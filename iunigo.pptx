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8" r:id="rId21"/>
    <p:sldId id="277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Helvetica Neue Light" panose="02000403000000020004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KFuuMg1KI1cPoF7FF26NzH/A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65539C-9E85-44D7-8B06-18F61A4DF39D}">
  <a:tblStyle styleId="{A365539C-9E85-44D7-8B06-18F61A4DF3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B38181-36C4-49DB-B6FF-6B5A1B788C8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9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54df3679d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c54df367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54df3679d_2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c54df3679d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54df3679d_2_1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c54df3679d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54df3679d_2_1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c54df3679d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416ab41c1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c416ab41c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416ab41c1_0_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c416ab41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59b244e6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c59b244e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59b244e60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c59b244e6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59b244e60_1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c59b244e60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59b244e60_1_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c59b244e60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59b244e60_1_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c59b244e60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c59b244e60_1_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c59b244e60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59b244e60_1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c59b244e60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59b244e60_1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c59b244e60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59b244e60_1_10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c59b244e60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c59b244e60_1_1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c59b244e60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59b244e60_1_1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c59b244e60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c59b244e60_1_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de la correlación podemos observar relaciones evidentes entre variables como stated_amount y la antiguedad, o la cantidad de aseguradoras previas con la cantidad de siniestros, pero no hay ninguna relacion fuerte con nuestro target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c59b244e60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c416ab41c1_0_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c416ab41c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416ab41c1_0_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c416ab41c1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 1">
  <p:cSld name="En blanco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c54df3679d_0_125" descr="Imag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47844" y="259821"/>
            <a:ext cx="607888" cy="2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c54df3679d_0_125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>
  <p:cSld name="TITLE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54df3679d_2_133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2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c54df3679d_2_133"/>
          <p:cNvSpPr txBox="1">
            <a:spLocks noGrp="1"/>
          </p:cNvSpPr>
          <p:nvPr>
            <p:ph type="body" idx="1"/>
          </p:nvPr>
        </p:nvSpPr>
        <p:spPr>
          <a:xfrm>
            <a:off x="889000" y="3536950"/>
            <a:ext cx="104142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1pPr>
            <a:lvl2pPr marL="91440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2pPr>
            <a:lvl3pPr marL="137160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3pPr>
            <a:lvl4pPr marL="182880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4pPr>
            <a:lvl5pPr marL="228600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5pPr>
            <a:lvl6pPr marL="2743200" lvl="5" indent="-29845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6pPr>
            <a:lvl7pPr marL="3200400" lvl="6" indent="-29845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7pPr>
            <a:lvl8pPr marL="3657600" lvl="7" indent="-29845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8pPr>
            <a:lvl9pPr marL="4114800" lvl="8" indent="-29845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gc54df3679d_2_133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1">
  <p:cSld name="Master Slide 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99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54df3679d_0_0"/>
          <p:cNvSpPr txBox="1"/>
          <p:nvPr/>
        </p:nvSpPr>
        <p:spPr>
          <a:xfrm>
            <a:off x="281325" y="600925"/>
            <a:ext cx="11049300" cy="26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750" tIns="15750" rIns="15750" bIns="1575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754A"/>
              </a:buClr>
              <a:buSzPts val="10000"/>
              <a:buFont typeface="Arial"/>
              <a:buNone/>
            </a:pPr>
            <a:endParaRPr sz="700"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7F0E0"/>
              </a:buClr>
              <a:buSzPts val="10000"/>
              <a:buFont typeface="Arial"/>
              <a:buNone/>
            </a:pPr>
            <a:r>
              <a:rPr lang="en-US" sz="10000">
                <a:solidFill>
                  <a:srgbClr val="F7F0E0"/>
                </a:solidFill>
              </a:rPr>
              <a:t>iúnigo</a:t>
            </a:r>
            <a:endParaRPr sz="10000">
              <a:solidFill>
                <a:srgbClr val="F7F0E0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7F0E0"/>
              </a:buClr>
              <a:buSzPts val="10000"/>
              <a:buFont typeface="Arial"/>
              <a:buNone/>
            </a:pPr>
            <a:r>
              <a:rPr lang="en-US" sz="5600">
                <a:solidFill>
                  <a:srgbClr val="F7F0E0"/>
                </a:solidFill>
              </a:rPr>
              <a:t>Desafío 3</a:t>
            </a:r>
            <a:r>
              <a:rPr lang="en-US" sz="10000" b="0" i="0" u="none" strike="noStrike" cap="none">
                <a:solidFill>
                  <a:srgbClr val="F7F0E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00"/>
          </a:p>
        </p:txBody>
      </p:sp>
      <p:sp>
        <p:nvSpPr>
          <p:cNvPr id="93" name="Google Shape;93;gc54df3679d_0_0"/>
          <p:cNvSpPr txBox="1"/>
          <p:nvPr/>
        </p:nvSpPr>
        <p:spPr>
          <a:xfrm>
            <a:off x="149075" y="4043975"/>
            <a:ext cx="5106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7F0E0"/>
                </a:solidFill>
              </a:rPr>
              <a:t>Integrantes grupo 2:</a:t>
            </a:r>
            <a:endParaRPr sz="29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7F0E0"/>
                </a:solidFill>
              </a:rPr>
              <a:t>Martín Ruiz</a:t>
            </a:r>
            <a:endParaRPr sz="22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7F0E0"/>
                </a:solidFill>
              </a:rPr>
              <a:t>Lucas Paéz</a:t>
            </a:r>
            <a:endParaRPr sz="22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7F0E0"/>
                </a:solidFill>
              </a:rPr>
              <a:t>Matías Larovere</a:t>
            </a:r>
            <a:endParaRPr sz="22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7F0E0"/>
                </a:solidFill>
              </a:rPr>
              <a:t>Francisco Morelli</a:t>
            </a:r>
            <a:endParaRPr sz="22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7F0E0"/>
                </a:solidFill>
              </a:rPr>
              <a:t>Hernán Sanchez</a:t>
            </a:r>
            <a:endParaRPr sz="2200">
              <a:solidFill>
                <a:srgbClr val="F7F0E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solidFill>
                <a:srgbClr val="F7F0E0"/>
              </a:solidFill>
            </a:endParaRPr>
          </a:p>
        </p:txBody>
      </p:sp>
      <p:pic>
        <p:nvPicPr>
          <p:cNvPr id="94" name="Google Shape;94;gc54df3679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6074" y="4727225"/>
            <a:ext cx="2965925" cy="20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c54df3679d_2_6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c54df3679d_2_6"/>
          <p:cNvSpPr txBox="1"/>
          <p:nvPr/>
        </p:nvSpPr>
        <p:spPr>
          <a:xfrm>
            <a:off x="264625" y="220525"/>
            <a:ext cx="72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0"/>
              <a:buFont typeface="Arial"/>
              <a:buNone/>
            </a:pPr>
            <a:r>
              <a:rPr lang="en-US" sz="4500">
                <a:solidFill>
                  <a:schemeClr val="dk1"/>
                </a:solidFill>
              </a:rPr>
              <a:t>_Agenda</a:t>
            </a:r>
            <a:endParaRPr sz="4500"/>
          </a:p>
        </p:txBody>
      </p:sp>
      <p:sp>
        <p:nvSpPr>
          <p:cNvPr id="101" name="Google Shape;101;gc54df3679d_2_6"/>
          <p:cNvSpPr txBox="1"/>
          <p:nvPr/>
        </p:nvSpPr>
        <p:spPr>
          <a:xfrm>
            <a:off x="529225" y="1433350"/>
            <a:ext cx="7916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Suscripción de seguros de autos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Problema y Descripción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Dataset e Información (variable Target)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Features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Modelos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Conclusión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Bonus Track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c54df3679d_2_137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c54df3679d_2_137"/>
          <p:cNvSpPr/>
          <p:nvPr/>
        </p:nvSpPr>
        <p:spPr>
          <a:xfrm>
            <a:off x="7361489" y="1774333"/>
            <a:ext cx="25812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Generación de Lead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08" name="Google Shape;108;gc54df3679d_2_137"/>
          <p:cNvSpPr txBox="1"/>
          <p:nvPr/>
        </p:nvSpPr>
        <p:spPr>
          <a:xfrm>
            <a:off x="7375793" y="2044071"/>
            <a:ext cx="32220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Persona que ingresa a nuestra página, cotiza su vehículo y deja sus datos + los del auto.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gc54df3679d_2_137"/>
          <p:cNvSpPr/>
          <p:nvPr/>
        </p:nvSpPr>
        <p:spPr>
          <a:xfrm>
            <a:off x="6567402" y="1885576"/>
            <a:ext cx="765300" cy="7653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c54df3679d_2_137"/>
          <p:cNvSpPr/>
          <p:nvPr/>
        </p:nvSpPr>
        <p:spPr>
          <a:xfrm>
            <a:off x="6574167" y="2877064"/>
            <a:ext cx="765300" cy="765300"/>
          </a:xfrm>
          <a:prstGeom prst="ellipse">
            <a:avLst/>
          </a:prstGeom>
          <a:solidFill>
            <a:srgbClr val="F1636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c54df3679d_2_137"/>
          <p:cNvSpPr/>
          <p:nvPr/>
        </p:nvSpPr>
        <p:spPr>
          <a:xfrm>
            <a:off x="6569615" y="3881435"/>
            <a:ext cx="765300" cy="765300"/>
          </a:xfrm>
          <a:prstGeom prst="ellipse">
            <a:avLst/>
          </a:prstGeom>
          <a:solidFill>
            <a:srgbClr val="25A99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c54df3679d_2_137"/>
          <p:cNvSpPr/>
          <p:nvPr/>
        </p:nvSpPr>
        <p:spPr>
          <a:xfrm>
            <a:off x="7357718" y="2754033"/>
            <a:ext cx="2688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Barrera de Suscripción</a:t>
            </a:r>
            <a:endParaRPr sz="700"/>
          </a:p>
        </p:txBody>
      </p:sp>
      <p:sp>
        <p:nvSpPr>
          <p:cNvPr id="113" name="Google Shape;113;gc54df3679d_2_137"/>
          <p:cNvSpPr txBox="1"/>
          <p:nvPr/>
        </p:nvSpPr>
        <p:spPr>
          <a:xfrm>
            <a:off x="7372030" y="3023756"/>
            <a:ext cx="32220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Analizamos el riesgo en base a reglas de negocio, dentro de los servicio de Sofía y Riesgo Online.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" name="Google Shape;114;gc54df3679d_2_137"/>
          <p:cNvSpPr/>
          <p:nvPr/>
        </p:nvSpPr>
        <p:spPr>
          <a:xfrm>
            <a:off x="7357732" y="3768333"/>
            <a:ext cx="1500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Inspección </a:t>
            </a:r>
            <a:endParaRPr sz="700"/>
          </a:p>
        </p:txBody>
      </p:sp>
      <p:sp>
        <p:nvSpPr>
          <p:cNvPr id="115" name="Google Shape;115;gc54df3679d_2_137"/>
          <p:cNvSpPr txBox="1"/>
          <p:nvPr/>
        </p:nvSpPr>
        <p:spPr>
          <a:xfrm>
            <a:off x="7372030" y="4038075"/>
            <a:ext cx="3222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Verificación del estado del riesgo.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6" name="Google Shape;116;gc54df3679d_2_137"/>
          <p:cNvSpPr/>
          <p:nvPr/>
        </p:nvSpPr>
        <p:spPr>
          <a:xfrm>
            <a:off x="6815883" y="2091035"/>
            <a:ext cx="272766" cy="354872"/>
          </a:xfrm>
          <a:custGeom>
            <a:avLst/>
            <a:gdLst/>
            <a:ahLst/>
            <a:cxnLst/>
            <a:rect l="l" t="t" r="r" b="b"/>
            <a:pathLst>
              <a:path w="320" h="417" extrusionOk="0">
                <a:moveTo>
                  <a:pt x="115" y="62"/>
                </a:moveTo>
                <a:lnTo>
                  <a:pt x="115" y="62"/>
                </a:lnTo>
                <a:cubicBezTo>
                  <a:pt x="115" y="27"/>
                  <a:pt x="89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89" y="416"/>
                  <a:pt x="115" y="390"/>
                  <a:pt x="115" y="354"/>
                </a:cubicBezTo>
                <a:cubicBezTo>
                  <a:pt x="115" y="328"/>
                  <a:pt x="106" y="310"/>
                  <a:pt x="80" y="301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106" y="106"/>
                  <a:pt x="115" y="80"/>
                  <a:pt x="115" y="62"/>
                </a:cubicBezTo>
                <a:close/>
                <a:moveTo>
                  <a:pt x="98" y="354"/>
                </a:moveTo>
                <a:lnTo>
                  <a:pt x="98" y="354"/>
                </a:lnTo>
                <a:cubicBezTo>
                  <a:pt x="98" y="372"/>
                  <a:pt x="80" y="390"/>
                  <a:pt x="62" y="390"/>
                </a:cubicBez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8" y="337"/>
                  <a:pt x="98" y="354"/>
                </a:cubicBezTo>
                <a:close/>
                <a:moveTo>
                  <a:pt x="62" y="88"/>
                </a:moveTo>
                <a:lnTo>
                  <a:pt x="62" y="88"/>
                </a:lnTo>
                <a:cubicBezTo>
                  <a:pt x="44" y="88"/>
                  <a:pt x="27" y="80"/>
                  <a:pt x="27" y="62"/>
                </a:cubicBez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8" y="35"/>
                  <a:pt x="98" y="62"/>
                </a:cubicBezTo>
                <a:cubicBezTo>
                  <a:pt x="98" y="80"/>
                  <a:pt x="80" y="88"/>
                  <a:pt x="62" y="88"/>
                </a:cubicBezTo>
                <a:close/>
                <a:moveTo>
                  <a:pt x="284" y="301"/>
                </a:moveTo>
                <a:lnTo>
                  <a:pt x="284" y="301"/>
                </a:lnTo>
                <a:cubicBezTo>
                  <a:pt x="284" y="115"/>
                  <a:pt x="284" y="115"/>
                  <a:pt x="284" y="115"/>
                </a:cubicBezTo>
                <a:cubicBezTo>
                  <a:pt x="302" y="106"/>
                  <a:pt x="319" y="80"/>
                  <a:pt x="319" y="62"/>
                </a:cubicBez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5" y="27"/>
                  <a:pt x="195" y="62"/>
                </a:cubicBezTo>
                <a:cubicBezTo>
                  <a:pt x="195" y="80"/>
                  <a:pt x="212" y="106"/>
                  <a:pt x="239" y="115"/>
                </a:cubicBezTo>
                <a:cubicBezTo>
                  <a:pt x="239" y="301"/>
                  <a:pt x="239" y="301"/>
                  <a:pt x="239" y="301"/>
                </a:cubicBezTo>
                <a:cubicBezTo>
                  <a:pt x="212" y="310"/>
                  <a:pt x="195" y="328"/>
                  <a:pt x="195" y="354"/>
                </a:cubicBezTo>
                <a:cubicBezTo>
                  <a:pt x="195" y="390"/>
                  <a:pt x="221" y="416"/>
                  <a:pt x="257" y="416"/>
                </a:cubicBezTo>
                <a:cubicBezTo>
                  <a:pt x="292" y="416"/>
                  <a:pt x="319" y="390"/>
                  <a:pt x="319" y="354"/>
                </a:cubicBezTo>
                <a:cubicBezTo>
                  <a:pt x="319" y="328"/>
                  <a:pt x="302" y="310"/>
                  <a:pt x="284" y="301"/>
                </a:cubicBezTo>
                <a:close/>
                <a:moveTo>
                  <a:pt x="221" y="62"/>
                </a:moveTo>
                <a:lnTo>
                  <a:pt x="221" y="62"/>
                </a:ln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ubicBezTo>
                  <a:pt x="239" y="88"/>
                  <a:pt x="221" y="80"/>
                  <a:pt x="221" y="62"/>
                </a:cubicBezTo>
                <a:close/>
                <a:moveTo>
                  <a:pt x="257" y="390"/>
                </a:moveTo>
                <a:lnTo>
                  <a:pt x="257" y="390"/>
                </a:lnTo>
                <a:cubicBezTo>
                  <a:pt x="239" y="390"/>
                  <a:pt x="221" y="372"/>
                  <a:pt x="221" y="354"/>
                </a:cubicBezTo>
                <a:cubicBezTo>
                  <a:pt x="221" y="337"/>
                  <a:pt x="239" y="319"/>
                  <a:pt x="257" y="319"/>
                </a:cubicBezTo>
                <a:cubicBezTo>
                  <a:pt x="275" y="319"/>
                  <a:pt x="292" y="337"/>
                  <a:pt x="292" y="354"/>
                </a:cubicBezTo>
                <a:cubicBezTo>
                  <a:pt x="292" y="372"/>
                  <a:pt x="275" y="390"/>
                  <a:pt x="257" y="39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c54df3679d_2_137"/>
          <p:cNvSpPr/>
          <p:nvPr/>
        </p:nvSpPr>
        <p:spPr>
          <a:xfrm>
            <a:off x="6794053" y="4073430"/>
            <a:ext cx="316394" cy="316314"/>
          </a:xfrm>
          <a:custGeom>
            <a:avLst/>
            <a:gdLst/>
            <a:ahLst/>
            <a:cxnLst/>
            <a:rect l="l" t="t" r="r" b="b"/>
            <a:pathLst>
              <a:path w="444" h="444" extrusionOk="0">
                <a:moveTo>
                  <a:pt x="399" y="53"/>
                </a:moveTo>
                <a:lnTo>
                  <a:pt x="399" y="53"/>
                </a:lnTo>
                <a:cubicBezTo>
                  <a:pt x="372" y="53"/>
                  <a:pt x="372" y="53"/>
                  <a:pt x="372" y="53"/>
                </a:cubicBezTo>
                <a:cubicBezTo>
                  <a:pt x="372" y="98"/>
                  <a:pt x="372" y="98"/>
                  <a:pt x="372" y="98"/>
                </a:cubicBezTo>
                <a:cubicBezTo>
                  <a:pt x="293" y="98"/>
                  <a:pt x="293" y="98"/>
                  <a:pt x="293" y="98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98"/>
                  <a:pt x="151" y="98"/>
                  <a:pt x="151" y="98"/>
                </a:cubicBezTo>
                <a:cubicBezTo>
                  <a:pt x="71" y="98"/>
                  <a:pt x="71" y="98"/>
                  <a:pt x="71" y="98"/>
                </a:cubicBezTo>
                <a:cubicBezTo>
                  <a:pt x="71" y="53"/>
                  <a:pt x="71" y="53"/>
                  <a:pt x="7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18" y="53"/>
                  <a:pt x="0" y="71"/>
                  <a:pt x="0" y="98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43"/>
                  <a:pt x="45" y="443"/>
                </a:cubicBezTo>
                <a:cubicBezTo>
                  <a:pt x="399" y="443"/>
                  <a:pt x="399" y="443"/>
                  <a:pt x="399" y="443"/>
                </a:cubicBezTo>
                <a:cubicBezTo>
                  <a:pt x="425" y="443"/>
                  <a:pt x="443" y="425"/>
                  <a:pt x="443" y="399"/>
                </a:cubicBezTo>
                <a:cubicBezTo>
                  <a:pt x="443" y="98"/>
                  <a:pt x="443" y="98"/>
                  <a:pt x="443" y="98"/>
                </a:cubicBezTo>
                <a:cubicBezTo>
                  <a:pt x="443" y="71"/>
                  <a:pt x="425" y="53"/>
                  <a:pt x="399" y="53"/>
                </a:cubicBezTo>
                <a:close/>
                <a:moveTo>
                  <a:pt x="399" y="399"/>
                </a:moveTo>
                <a:lnTo>
                  <a:pt x="399" y="399"/>
                </a:lnTo>
                <a:cubicBezTo>
                  <a:pt x="45" y="399"/>
                  <a:pt x="45" y="399"/>
                  <a:pt x="45" y="399"/>
                </a:cubicBezTo>
                <a:cubicBezTo>
                  <a:pt x="45" y="196"/>
                  <a:pt x="45" y="196"/>
                  <a:pt x="45" y="196"/>
                </a:cubicBezTo>
                <a:cubicBezTo>
                  <a:pt x="399" y="196"/>
                  <a:pt x="399" y="196"/>
                  <a:pt x="399" y="196"/>
                </a:cubicBezTo>
                <a:lnTo>
                  <a:pt x="399" y="399"/>
                </a:lnTo>
                <a:close/>
                <a:moveTo>
                  <a:pt x="124" y="0"/>
                </a:moveTo>
                <a:lnTo>
                  <a:pt x="124" y="0"/>
                </a:lnTo>
                <a:cubicBezTo>
                  <a:pt x="89" y="0"/>
                  <a:pt x="89" y="0"/>
                  <a:pt x="89" y="0"/>
                </a:cubicBezTo>
                <a:cubicBezTo>
                  <a:pt x="89" y="89"/>
                  <a:pt x="89" y="89"/>
                  <a:pt x="89" y="89"/>
                </a:cubicBezTo>
                <a:cubicBezTo>
                  <a:pt x="124" y="89"/>
                  <a:pt x="124" y="89"/>
                  <a:pt x="124" y="89"/>
                </a:cubicBezTo>
                <a:lnTo>
                  <a:pt x="124" y="0"/>
                </a:lnTo>
                <a:close/>
                <a:moveTo>
                  <a:pt x="354" y="0"/>
                </a:moveTo>
                <a:lnTo>
                  <a:pt x="354" y="0"/>
                </a:lnTo>
                <a:cubicBezTo>
                  <a:pt x="319" y="0"/>
                  <a:pt x="319" y="0"/>
                  <a:pt x="319" y="0"/>
                </a:cubicBezTo>
                <a:cubicBezTo>
                  <a:pt x="319" y="89"/>
                  <a:pt x="319" y="89"/>
                  <a:pt x="319" y="89"/>
                </a:cubicBezTo>
                <a:cubicBezTo>
                  <a:pt x="354" y="89"/>
                  <a:pt x="354" y="89"/>
                  <a:pt x="354" y="89"/>
                </a:cubicBezTo>
                <a:lnTo>
                  <a:pt x="3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c54df3679d_2_137"/>
          <p:cNvSpPr/>
          <p:nvPr/>
        </p:nvSpPr>
        <p:spPr>
          <a:xfrm>
            <a:off x="6577686" y="4855122"/>
            <a:ext cx="765300" cy="765300"/>
          </a:xfrm>
          <a:prstGeom prst="ellipse">
            <a:avLst/>
          </a:prstGeom>
          <a:solidFill>
            <a:srgbClr val="144F7A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c54df3679d_2_137"/>
          <p:cNvSpPr/>
          <p:nvPr/>
        </p:nvSpPr>
        <p:spPr>
          <a:xfrm>
            <a:off x="7384864" y="4751600"/>
            <a:ext cx="2631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Aprobación del Riesgo</a:t>
            </a:r>
            <a:endParaRPr sz="700"/>
          </a:p>
        </p:txBody>
      </p:sp>
      <p:sp>
        <p:nvSpPr>
          <p:cNvPr id="120" name="Google Shape;120;gc54df3679d_2_137"/>
          <p:cNvSpPr txBox="1"/>
          <p:nvPr/>
        </p:nvSpPr>
        <p:spPr>
          <a:xfrm>
            <a:off x="7399151" y="5021322"/>
            <a:ext cx="32220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Inspección aprobada y proceso final de Suscripción.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gc54df3679d_2_137"/>
          <p:cNvSpPr/>
          <p:nvPr/>
        </p:nvSpPr>
        <p:spPr>
          <a:xfrm rot="10800000">
            <a:off x="2465471" y="4138581"/>
            <a:ext cx="1735463" cy="673369"/>
          </a:xfrm>
          <a:custGeom>
            <a:avLst/>
            <a:gdLst/>
            <a:ahLst/>
            <a:cxnLst/>
            <a:rect l="l" t="t" r="r" b="b"/>
            <a:pathLst>
              <a:path w="3330" h="1293" extrusionOk="0">
                <a:moveTo>
                  <a:pt x="0" y="1292"/>
                </a:moveTo>
                <a:lnTo>
                  <a:pt x="3329" y="1292"/>
                </a:lnTo>
                <a:lnTo>
                  <a:pt x="2583" y="0"/>
                </a:lnTo>
                <a:lnTo>
                  <a:pt x="745" y="0"/>
                </a:lnTo>
                <a:lnTo>
                  <a:pt x="0" y="1292"/>
                </a:lnTo>
              </a:path>
            </a:pathLst>
          </a:custGeom>
          <a:solidFill>
            <a:srgbClr val="144F7A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c54df3679d_2_137"/>
          <p:cNvSpPr/>
          <p:nvPr/>
        </p:nvSpPr>
        <p:spPr>
          <a:xfrm rot="10800000">
            <a:off x="1569016" y="2587314"/>
            <a:ext cx="3528381" cy="673365"/>
          </a:xfrm>
          <a:custGeom>
            <a:avLst/>
            <a:gdLst/>
            <a:ahLst/>
            <a:cxnLst/>
            <a:rect l="l" t="t" r="r" b="b"/>
            <a:pathLst>
              <a:path w="6767" h="1293" extrusionOk="0">
                <a:moveTo>
                  <a:pt x="0" y="1292"/>
                </a:moveTo>
                <a:lnTo>
                  <a:pt x="6766" y="1292"/>
                </a:lnTo>
                <a:lnTo>
                  <a:pt x="6020" y="0"/>
                </a:lnTo>
                <a:lnTo>
                  <a:pt x="746" y="0"/>
                </a:lnTo>
                <a:lnTo>
                  <a:pt x="0" y="1292"/>
                </a:lnTo>
              </a:path>
            </a:pathLst>
          </a:custGeom>
          <a:solidFill>
            <a:srgbClr val="F1636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c54df3679d_2_137"/>
          <p:cNvSpPr/>
          <p:nvPr/>
        </p:nvSpPr>
        <p:spPr>
          <a:xfrm rot="10800000">
            <a:off x="1102390" y="1778352"/>
            <a:ext cx="4461629" cy="703246"/>
          </a:xfrm>
          <a:custGeom>
            <a:avLst/>
            <a:gdLst/>
            <a:ahLst/>
            <a:cxnLst/>
            <a:rect l="l" t="t" r="r" b="b"/>
            <a:pathLst>
              <a:path w="8561" h="1351" extrusionOk="0">
                <a:moveTo>
                  <a:pt x="0" y="1350"/>
                </a:moveTo>
                <a:lnTo>
                  <a:pt x="8560" y="1350"/>
                </a:lnTo>
                <a:lnTo>
                  <a:pt x="7777" y="0"/>
                </a:lnTo>
                <a:lnTo>
                  <a:pt x="784" y="0"/>
                </a:lnTo>
                <a:lnTo>
                  <a:pt x="0" y="1350"/>
                </a:lnTo>
              </a:path>
            </a:pathLst>
          </a:custGeom>
          <a:solidFill>
            <a:srgbClr val="3D85C6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c54df3679d_2_137"/>
          <p:cNvSpPr/>
          <p:nvPr/>
        </p:nvSpPr>
        <p:spPr>
          <a:xfrm rot="10800000">
            <a:off x="2017236" y="3361798"/>
            <a:ext cx="2631930" cy="673369"/>
          </a:xfrm>
          <a:custGeom>
            <a:avLst/>
            <a:gdLst/>
            <a:ahLst/>
            <a:cxnLst/>
            <a:rect l="l" t="t" r="r" b="b"/>
            <a:pathLst>
              <a:path w="5049" h="1293" extrusionOk="0">
                <a:moveTo>
                  <a:pt x="0" y="1292"/>
                </a:moveTo>
                <a:lnTo>
                  <a:pt x="5048" y="1292"/>
                </a:lnTo>
                <a:lnTo>
                  <a:pt x="4302" y="0"/>
                </a:lnTo>
                <a:lnTo>
                  <a:pt x="746" y="0"/>
                </a:lnTo>
                <a:lnTo>
                  <a:pt x="0" y="1292"/>
                </a:lnTo>
              </a:path>
            </a:pathLst>
          </a:custGeom>
          <a:solidFill>
            <a:srgbClr val="25A99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c54df3679d_2_137"/>
          <p:cNvSpPr/>
          <p:nvPr/>
        </p:nvSpPr>
        <p:spPr>
          <a:xfrm rot="10800000">
            <a:off x="2913706" y="4913070"/>
            <a:ext cx="836698" cy="726223"/>
          </a:xfrm>
          <a:custGeom>
            <a:avLst/>
            <a:gdLst/>
            <a:ahLst/>
            <a:cxnLst/>
            <a:rect l="l" t="t" r="r" b="b"/>
            <a:pathLst>
              <a:path w="1606" h="1395" extrusionOk="0">
                <a:moveTo>
                  <a:pt x="800" y="0"/>
                </a:moveTo>
                <a:lnTo>
                  <a:pt x="0" y="1394"/>
                </a:lnTo>
                <a:lnTo>
                  <a:pt x="1605" y="1394"/>
                </a:lnTo>
                <a:lnTo>
                  <a:pt x="800" y="0"/>
                </a:lnTo>
              </a:path>
            </a:pathLst>
          </a:custGeom>
          <a:solidFill>
            <a:srgbClr val="6FA8DC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c54df3679d_2_137"/>
          <p:cNvSpPr/>
          <p:nvPr/>
        </p:nvSpPr>
        <p:spPr>
          <a:xfrm rot="10800000">
            <a:off x="1100080" y="1778352"/>
            <a:ext cx="2231974" cy="703246"/>
          </a:xfrm>
          <a:custGeom>
            <a:avLst/>
            <a:gdLst/>
            <a:ahLst/>
            <a:cxnLst/>
            <a:rect l="l" t="t" r="r" b="b"/>
            <a:pathLst>
              <a:path w="4281" h="1351" extrusionOk="0">
                <a:moveTo>
                  <a:pt x="3497" y="0"/>
                </a:moveTo>
                <a:lnTo>
                  <a:pt x="0" y="0"/>
                </a:lnTo>
                <a:lnTo>
                  <a:pt x="0" y="1350"/>
                </a:lnTo>
                <a:lnTo>
                  <a:pt x="4280" y="1350"/>
                </a:lnTo>
                <a:lnTo>
                  <a:pt x="3497" y="0"/>
                </a:lnTo>
              </a:path>
            </a:pathLst>
          </a:custGeom>
          <a:solidFill>
            <a:srgbClr val="3D85C6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c54df3679d_2_137"/>
          <p:cNvSpPr/>
          <p:nvPr/>
        </p:nvSpPr>
        <p:spPr>
          <a:xfrm rot="10800000">
            <a:off x="2911408" y="4913070"/>
            <a:ext cx="420645" cy="726223"/>
          </a:xfrm>
          <a:custGeom>
            <a:avLst/>
            <a:gdLst/>
            <a:ahLst/>
            <a:cxnLst/>
            <a:rect l="l" t="t" r="r" b="b"/>
            <a:pathLst>
              <a:path w="806" h="1395" extrusionOk="0">
                <a:moveTo>
                  <a:pt x="0" y="0"/>
                </a:moveTo>
                <a:lnTo>
                  <a:pt x="0" y="1394"/>
                </a:lnTo>
                <a:lnTo>
                  <a:pt x="805" y="1394"/>
                </a:lnTo>
                <a:lnTo>
                  <a:pt x="0" y="0"/>
                </a:lnTo>
              </a:path>
            </a:pathLst>
          </a:custGeom>
          <a:solidFill>
            <a:srgbClr val="6FA8DC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c54df3679d_2_137"/>
          <p:cNvSpPr txBox="1"/>
          <p:nvPr/>
        </p:nvSpPr>
        <p:spPr>
          <a:xfrm>
            <a:off x="230778" y="140900"/>
            <a:ext cx="9537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</a:rPr>
              <a:t>Suscripción de Seguros Autos</a:t>
            </a:r>
            <a:endParaRPr sz="4500"/>
          </a:p>
        </p:txBody>
      </p:sp>
      <p:sp>
        <p:nvSpPr>
          <p:cNvPr id="129" name="Google Shape;129;gc54df3679d_2_137"/>
          <p:cNvSpPr txBox="1"/>
          <p:nvPr/>
        </p:nvSpPr>
        <p:spPr>
          <a:xfrm>
            <a:off x="1509333" y="1962133"/>
            <a:ext cx="3528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7F0E0"/>
                </a:solidFill>
              </a:rPr>
              <a:t>120.000</a:t>
            </a:r>
            <a:endParaRPr sz="1900" b="1">
              <a:solidFill>
                <a:srgbClr val="F7F0E0"/>
              </a:solidFill>
            </a:endParaRPr>
          </a:p>
        </p:txBody>
      </p:sp>
      <p:sp>
        <p:nvSpPr>
          <p:cNvPr id="130" name="Google Shape;130;gc54df3679d_2_137"/>
          <p:cNvSpPr/>
          <p:nvPr/>
        </p:nvSpPr>
        <p:spPr>
          <a:xfrm>
            <a:off x="6724483" y="3122016"/>
            <a:ext cx="493922" cy="275302"/>
          </a:xfrm>
          <a:custGeom>
            <a:avLst/>
            <a:gdLst/>
            <a:ahLst/>
            <a:cxnLst/>
            <a:rect l="l" t="t" r="r" b="b"/>
            <a:pathLst>
              <a:path w="497" h="276" extrusionOk="0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c54df3679d_2_137"/>
          <p:cNvSpPr/>
          <p:nvPr/>
        </p:nvSpPr>
        <p:spPr>
          <a:xfrm>
            <a:off x="6781989" y="5065827"/>
            <a:ext cx="378901" cy="372401"/>
          </a:xfrm>
          <a:custGeom>
            <a:avLst/>
            <a:gdLst/>
            <a:ahLst/>
            <a:cxnLst/>
            <a:rect l="l" t="t" r="r" b="b"/>
            <a:pathLst>
              <a:path w="619" h="619" extrusionOk="0">
                <a:moveTo>
                  <a:pt x="427" y="177"/>
                </a:moveTo>
                <a:lnTo>
                  <a:pt x="427" y="177"/>
                </a:lnTo>
                <a:cubicBezTo>
                  <a:pt x="412" y="162"/>
                  <a:pt x="412" y="177"/>
                  <a:pt x="398" y="177"/>
                </a:cubicBezTo>
                <a:cubicBezTo>
                  <a:pt x="280" y="398"/>
                  <a:pt x="280" y="398"/>
                  <a:pt x="280" y="398"/>
                </a:cubicBezTo>
                <a:cubicBezTo>
                  <a:pt x="206" y="339"/>
                  <a:pt x="206" y="339"/>
                  <a:pt x="206" y="339"/>
                </a:cubicBezTo>
                <a:cubicBezTo>
                  <a:pt x="191" y="324"/>
                  <a:pt x="191" y="324"/>
                  <a:pt x="177" y="339"/>
                </a:cubicBezTo>
                <a:cubicBezTo>
                  <a:pt x="162" y="339"/>
                  <a:pt x="162" y="353"/>
                  <a:pt x="177" y="353"/>
                </a:cubicBezTo>
                <a:cubicBezTo>
                  <a:pt x="265" y="441"/>
                  <a:pt x="265" y="441"/>
                  <a:pt x="265" y="441"/>
                </a:cubicBezTo>
                <a:cubicBezTo>
                  <a:pt x="280" y="457"/>
                  <a:pt x="280" y="457"/>
                  <a:pt x="294" y="441"/>
                </a:cubicBezTo>
                <a:lnTo>
                  <a:pt x="441" y="206"/>
                </a:lnTo>
                <a:cubicBezTo>
                  <a:pt x="441" y="191"/>
                  <a:pt x="441" y="177"/>
                  <a:pt x="427" y="177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18" y="589"/>
                  <a:pt x="618" y="545"/>
                </a:cubicBezTo>
                <a:cubicBezTo>
                  <a:pt x="618" y="74"/>
                  <a:pt x="618" y="74"/>
                  <a:pt x="618" y="74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9"/>
                  <a:pt x="589" y="74"/>
                </a:cubicBezTo>
                <a:lnTo>
                  <a:pt x="589" y="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25025" tIns="162500" rIns="325025" bIns="162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4454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c54df3679d_2_137"/>
          <p:cNvSpPr txBox="1"/>
          <p:nvPr/>
        </p:nvSpPr>
        <p:spPr>
          <a:xfrm>
            <a:off x="1509333" y="2661967"/>
            <a:ext cx="352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7F0E0"/>
                </a:solidFill>
              </a:rPr>
              <a:t>70.000</a:t>
            </a:r>
            <a:endParaRPr sz="1700" b="1">
              <a:solidFill>
                <a:srgbClr val="F7F0E0"/>
              </a:solidFill>
            </a:endParaRPr>
          </a:p>
        </p:txBody>
      </p:sp>
      <p:sp>
        <p:nvSpPr>
          <p:cNvPr id="133" name="Google Shape;133;gc54df3679d_2_137"/>
          <p:cNvSpPr txBox="1"/>
          <p:nvPr/>
        </p:nvSpPr>
        <p:spPr>
          <a:xfrm>
            <a:off x="1568050" y="3400267"/>
            <a:ext cx="352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7F0E0"/>
                </a:solidFill>
              </a:rPr>
              <a:t>50.000</a:t>
            </a:r>
            <a:endParaRPr sz="1600" b="1">
              <a:solidFill>
                <a:srgbClr val="F7F0E0"/>
              </a:solidFill>
            </a:endParaRPr>
          </a:p>
        </p:txBody>
      </p:sp>
      <p:sp>
        <p:nvSpPr>
          <p:cNvPr id="134" name="Google Shape;134;gc54df3679d_2_137"/>
          <p:cNvSpPr txBox="1"/>
          <p:nvPr/>
        </p:nvSpPr>
        <p:spPr>
          <a:xfrm>
            <a:off x="1569217" y="4207317"/>
            <a:ext cx="3528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7F0E0"/>
                </a:solidFill>
              </a:rPr>
              <a:t>42.000</a:t>
            </a:r>
            <a:endParaRPr sz="1300" b="1">
              <a:solidFill>
                <a:srgbClr val="F7F0E0"/>
              </a:solidFill>
            </a:endParaRPr>
          </a:p>
        </p:txBody>
      </p:sp>
      <p:sp>
        <p:nvSpPr>
          <p:cNvPr id="135" name="Google Shape;135;gc54df3679d_2_137"/>
          <p:cNvSpPr txBox="1"/>
          <p:nvPr/>
        </p:nvSpPr>
        <p:spPr>
          <a:xfrm>
            <a:off x="1568050" y="4915333"/>
            <a:ext cx="3528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7F0E0"/>
                </a:solidFill>
              </a:rPr>
              <a:t>35.371</a:t>
            </a:r>
            <a:endParaRPr sz="1300" b="1">
              <a:solidFill>
                <a:srgbClr val="F7F0E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c54df3679d_2_141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c54df3679d_2_141"/>
          <p:cNvSpPr/>
          <p:nvPr/>
        </p:nvSpPr>
        <p:spPr>
          <a:xfrm>
            <a:off x="707911" y="1459172"/>
            <a:ext cx="765300" cy="765300"/>
          </a:xfrm>
          <a:prstGeom prst="ellipse">
            <a:avLst/>
          </a:prstGeom>
          <a:solidFill>
            <a:srgbClr val="144F7A"/>
          </a:solidFill>
          <a:ln>
            <a:noFill/>
          </a:ln>
        </p:spPr>
        <p:txBody>
          <a:bodyPr spcFirstLastPara="1" wrap="square" lIns="45725" tIns="22875" rIns="45725" bIns="22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c54df3679d_2_141"/>
          <p:cNvSpPr/>
          <p:nvPr/>
        </p:nvSpPr>
        <p:spPr>
          <a:xfrm>
            <a:off x="1515089" y="1355650"/>
            <a:ext cx="2631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Aprobación del Riesgo</a:t>
            </a:r>
            <a:endParaRPr sz="700"/>
          </a:p>
        </p:txBody>
      </p:sp>
      <p:sp>
        <p:nvSpPr>
          <p:cNvPr id="143" name="Google Shape;143;gc54df3679d_2_141"/>
          <p:cNvSpPr txBox="1"/>
          <p:nvPr/>
        </p:nvSpPr>
        <p:spPr>
          <a:xfrm>
            <a:off x="1529376" y="1625372"/>
            <a:ext cx="32220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75" rIns="109725" bIns="5487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Inspección aprobada y proceso final de Suscripción.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4" name="Google Shape;144;gc54df3679d_2_141"/>
          <p:cNvSpPr/>
          <p:nvPr/>
        </p:nvSpPr>
        <p:spPr>
          <a:xfrm>
            <a:off x="912214" y="1669877"/>
            <a:ext cx="378901" cy="372401"/>
          </a:xfrm>
          <a:custGeom>
            <a:avLst/>
            <a:gdLst/>
            <a:ahLst/>
            <a:cxnLst/>
            <a:rect l="l" t="t" r="r" b="b"/>
            <a:pathLst>
              <a:path w="619" h="619" extrusionOk="0">
                <a:moveTo>
                  <a:pt x="427" y="177"/>
                </a:moveTo>
                <a:lnTo>
                  <a:pt x="427" y="177"/>
                </a:lnTo>
                <a:cubicBezTo>
                  <a:pt x="412" y="162"/>
                  <a:pt x="412" y="177"/>
                  <a:pt x="398" y="177"/>
                </a:cubicBezTo>
                <a:cubicBezTo>
                  <a:pt x="280" y="398"/>
                  <a:pt x="280" y="398"/>
                  <a:pt x="280" y="398"/>
                </a:cubicBezTo>
                <a:cubicBezTo>
                  <a:pt x="206" y="339"/>
                  <a:pt x="206" y="339"/>
                  <a:pt x="206" y="339"/>
                </a:cubicBezTo>
                <a:cubicBezTo>
                  <a:pt x="191" y="324"/>
                  <a:pt x="191" y="324"/>
                  <a:pt x="177" y="339"/>
                </a:cubicBezTo>
                <a:cubicBezTo>
                  <a:pt x="162" y="339"/>
                  <a:pt x="162" y="353"/>
                  <a:pt x="177" y="353"/>
                </a:cubicBezTo>
                <a:cubicBezTo>
                  <a:pt x="265" y="441"/>
                  <a:pt x="265" y="441"/>
                  <a:pt x="265" y="441"/>
                </a:cubicBezTo>
                <a:cubicBezTo>
                  <a:pt x="280" y="457"/>
                  <a:pt x="280" y="457"/>
                  <a:pt x="294" y="441"/>
                </a:cubicBezTo>
                <a:lnTo>
                  <a:pt x="441" y="206"/>
                </a:lnTo>
                <a:cubicBezTo>
                  <a:pt x="441" y="191"/>
                  <a:pt x="441" y="177"/>
                  <a:pt x="427" y="177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18" y="589"/>
                  <a:pt x="618" y="545"/>
                </a:cubicBezTo>
                <a:cubicBezTo>
                  <a:pt x="618" y="74"/>
                  <a:pt x="618" y="74"/>
                  <a:pt x="618" y="74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9"/>
                  <a:pt x="589" y="74"/>
                </a:cubicBezTo>
                <a:lnTo>
                  <a:pt x="589" y="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25025" tIns="162500" rIns="325025" bIns="162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4454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c54df3679d_2_141"/>
          <p:cNvSpPr txBox="1"/>
          <p:nvPr/>
        </p:nvSpPr>
        <p:spPr>
          <a:xfrm>
            <a:off x="815900" y="308725"/>
            <a:ext cx="879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Problema y Descripción</a:t>
            </a:r>
            <a:endParaRPr sz="3200"/>
          </a:p>
        </p:txBody>
      </p:sp>
      <p:cxnSp>
        <p:nvCxnSpPr>
          <p:cNvPr id="146" name="Google Shape;146;gc54df3679d_2_141"/>
          <p:cNvCxnSpPr/>
          <p:nvPr/>
        </p:nvCxnSpPr>
        <p:spPr>
          <a:xfrm>
            <a:off x="1786175" y="2403600"/>
            <a:ext cx="3616500" cy="1323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" name="Google Shape;147;gc54df3679d_2_141"/>
          <p:cNvSpPr txBox="1"/>
          <p:nvPr/>
        </p:nvSpPr>
        <p:spPr>
          <a:xfrm>
            <a:off x="5512850" y="2042275"/>
            <a:ext cx="63066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La compañía tiene como objetivo incrementar la cartera vigente.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El costo de venta por adquisición es muy alto y debe optimizar el proceso para que las pólizas que no realicen la inspección del vehículo no se anulen.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Objetivo:</a:t>
            </a: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US" sz="2000" b="1"/>
              <a:t>Detectar aquellos clientes que tienen alta probabilidad de no realizar la inspección y alentarlos a terminar con el proceso. Evitando la anulación de la póliza por no cumplir con la normativa del contrato. </a:t>
            </a:r>
            <a:endParaRPr sz="2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c416ab41c1_0_7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44" y="64629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c416ab41c1_0_7"/>
          <p:cNvSpPr txBox="1"/>
          <p:nvPr/>
        </p:nvSpPr>
        <p:spPr>
          <a:xfrm>
            <a:off x="529225" y="573350"/>
            <a:ext cx="727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Dataset e Información</a:t>
            </a:r>
            <a:endParaRPr sz="3200"/>
          </a:p>
        </p:txBody>
      </p:sp>
      <p:sp>
        <p:nvSpPr>
          <p:cNvPr id="154" name="Google Shape;154;gc416ab41c1_0_7"/>
          <p:cNvSpPr txBox="1"/>
          <p:nvPr/>
        </p:nvSpPr>
        <p:spPr>
          <a:xfrm>
            <a:off x="639500" y="1433350"/>
            <a:ext cx="3638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Base de Pólizas con Inspecciones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55" name="Google Shape;155;gc416ab41c1_0_7"/>
          <p:cNvSpPr txBox="1"/>
          <p:nvPr/>
        </p:nvSpPr>
        <p:spPr>
          <a:xfrm>
            <a:off x="4805250" y="1563700"/>
            <a:ext cx="3638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Sofía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56" name="Google Shape;156;gc416ab41c1_0_7"/>
          <p:cNvSpPr txBox="1"/>
          <p:nvPr/>
        </p:nvSpPr>
        <p:spPr>
          <a:xfrm>
            <a:off x="8221275" y="1563700"/>
            <a:ext cx="3638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Riesgo Online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graphicFrame>
        <p:nvGraphicFramePr>
          <p:cNvPr id="157" name="Google Shape;157;gc416ab41c1_0_7"/>
          <p:cNvGraphicFramePr/>
          <p:nvPr/>
        </p:nvGraphicFramePr>
        <p:xfrm>
          <a:off x="697575" y="2170570"/>
          <a:ext cx="3021075" cy="4283740"/>
        </p:xfrm>
        <a:graphic>
          <a:graphicData uri="http://schemas.openxmlformats.org/drawingml/2006/table">
            <a:tbl>
              <a:tblPr>
                <a:noFill/>
                <a:tableStyleId>{A365539C-9E85-44D7-8B06-18F61A4DF39D}</a:tableStyleId>
              </a:tblPr>
              <a:tblGrid>
                <a:gridCol w="302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Nombre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Fecha de Nacimiento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Año de Vehículo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Marca y Modelo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Tipo de Vehículo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Status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Patente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0KM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Zip Code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Monto Asegurado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Fehca de Creación de Solicitud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Plan 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8" name="Google Shape;158;gc416ab41c1_0_7"/>
          <p:cNvSpPr txBox="1"/>
          <p:nvPr/>
        </p:nvSpPr>
        <p:spPr>
          <a:xfrm>
            <a:off x="4829275" y="4608750"/>
            <a:ext cx="97908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gc416ab41c1_0_7"/>
          <p:cNvGraphicFramePr/>
          <p:nvPr/>
        </p:nvGraphicFramePr>
        <p:xfrm>
          <a:off x="4277900" y="2170563"/>
          <a:ext cx="2557875" cy="1579900"/>
        </p:xfrm>
        <a:graphic>
          <a:graphicData uri="http://schemas.openxmlformats.org/drawingml/2006/table">
            <a:tbl>
              <a:tblPr>
                <a:noFill/>
                <a:tableStyleId>{A365539C-9E85-44D7-8B06-18F61A4DF39D}</a:tableStyleId>
              </a:tblPr>
              <a:tblGrid>
                <a:gridCol w="255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Patente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Siniestros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Tipo de Siniestro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Score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Google Shape;160;gc416ab41c1_0_7"/>
          <p:cNvSpPr txBox="1"/>
          <p:nvPr/>
        </p:nvSpPr>
        <p:spPr>
          <a:xfrm>
            <a:off x="10584700" y="3682600"/>
            <a:ext cx="97908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gc416ab41c1_0_7"/>
          <p:cNvGraphicFramePr/>
          <p:nvPr/>
        </p:nvGraphicFramePr>
        <p:xfrm>
          <a:off x="8221275" y="2170575"/>
          <a:ext cx="2646175" cy="800400"/>
        </p:xfrm>
        <a:graphic>
          <a:graphicData uri="http://schemas.openxmlformats.org/drawingml/2006/table">
            <a:tbl>
              <a:tblPr>
                <a:noFill/>
                <a:tableStyleId>{A365539C-9E85-44D7-8B06-18F61A4DF39D}</a:tableStyleId>
              </a:tblPr>
              <a:tblGrid>
                <a:gridCol w="26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Perfil socio-económico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2" name="Google Shape;162;gc416ab41c1_0_7"/>
          <p:cNvCxnSpPr/>
          <p:nvPr/>
        </p:nvCxnSpPr>
        <p:spPr>
          <a:xfrm>
            <a:off x="3770800" y="4035425"/>
            <a:ext cx="3682500" cy="1278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gc416ab41c1_0_7"/>
          <p:cNvSpPr txBox="1"/>
          <p:nvPr/>
        </p:nvSpPr>
        <p:spPr>
          <a:xfrm>
            <a:off x="7585700" y="3947200"/>
            <a:ext cx="4138200" cy="29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Status de las pólizas: 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685800" lvl="1" indent="-146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Activa , es una póliza vigente que no tiene problemas</a:t>
            </a:r>
            <a:endParaRPr sz="1100">
              <a:solidFill>
                <a:schemeClr val="dk1"/>
              </a:solidFill>
            </a:endParaRPr>
          </a:p>
          <a:p>
            <a:pPr marL="685800" lvl="1" indent="-146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Cancelada – por movimientos normales , como precios, gente que estuvo activa, pero dio de baja el servicio</a:t>
            </a:r>
            <a:endParaRPr sz="1100">
              <a:solidFill>
                <a:schemeClr val="dk1"/>
              </a:solidFill>
            </a:endParaRPr>
          </a:p>
          <a:p>
            <a:pPr marL="685800" lvl="1" indent="-146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Anulada, es una póliza que se emitió, pero no llega a entrar en vigencia por distintas causas, siendo las más relevantes:	</a:t>
            </a:r>
            <a:endParaRPr sz="1100">
              <a:solidFill>
                <a:schemeClr val="dk1"/>
              </a:solidFill>
            </a:endParaRPr>
          </a:p>
          <a:p>
            <a:pPr marL="1143000" lvl="2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El presentar las fotos del vehículo está muy dañado y la empresa decide no otorgar la póliza</a:t>
            </a:r>
            <a:endParaRPr sz="1100">
              <a:solidFill>
                <a:schemeClr val="dk1"/>
              </a:solidFill>
            </a:endParaRPr>
          </a:p>
          <a:p>
            <a:pPr marL="1143000" lvl="2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El asegurado NO presenta las fotos en tiempo o forma.  Este en particular es el target de nuestro ejercicio.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c416ab41c1_0_29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c416ab41c1_0_29"/>
          <p:cNvSpPr txBox="1"/>
          <p:nvPr/>
        </p:nvSpPr>
        <p:spPr>
          <a:xfrm>
            <a:off x="815900" y="308725"/>
            <a:ext cx="879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Features</a:t>
            </a:r>
            <a:endParaRPr sz="3200"/>
          </a:p>
        </p:txBody>
      </p:sp>
      <p:sp>
        <p:nvSpPr>
          <p:cNvPr id="170" name="Google Shape;170;gc416ab41c1_0_29"/>
          <p:cNvSpPr txBox="1"/>
          <p:nvPr/>
        </p:nvSpPr>
        <p:spPr>
          <a:xfrm>
            <a:off x="815900" y="1379263"/>
            <a:ext cx="10606800" cy="38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Vehículo – Cantidad de aseguradoras donde ha estado</a:t>
            </a:r>
            <a:endParaRPr sz="3100">
              <a:solidFill>
                <a:schemeClr val="dk1"/>
              </a:solidFill>
            </a:endParaRPr>
          </a:p>
          <a:p>
            <a:pPr marL="228600" lvl="0" indent="-247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Vehículo – Cantidad de siniestros reportados</a:t>
            </a:r>
            <a:endParaRPr sz="3100">
              <a:solidFill>
                <a:schemeClr val="dk1"/>
              </a:solidFill>
            </a:endParaRPr>
          </a:p>
          <a:p>
            <a:pPr marL="228600" lvl="0" indent="-247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Vehículo – Tipos de incidentes reportados </a:t>
            </a:r>
            <a:endParaRPr sz="3100">
              <a:solidFill>
                <a:schemeClr val="dk1"/>
              </a:solidFill>
            </a:endParaRPr>
          </a:p>
          <a:p>
            <a:pPr marL="228600" lvl="0" indent="-247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Vehículo - Antigüedad</a:t>
            </a:r>
            <a:endParaRPr sz="3100">
              <a:solidFill>
                <a:schemeClr val="dk1"/>
              </a:solidFill>
            </a:endParaRPr>
          </a:p>
          <a:p>
            <a:pPr marL="228600" lvl="0" indent="-247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Asegurado – Sexo</a:t>
            </a:r>
            <a:endParaRPr sz="3100">
              <a:solidFill>
                <a:schemeClr val="dk1"/>
              </a:solidFill>
            </a:endParaRPr>
          </a:p>
          <a:p>
            <a:pPr marL="228600" lvl="0" indent="-247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solidFill>
                  <a:schemeClr val="dk1"/>
                </a:solidFill>
              </a:rPr>
              <a:t>Póliza -  Plazo desde la contratación y reporte de primer siniestro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c59b244e60_0_0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c59b244e60_0_0"/>
          <p:cNvSpPr txBox="1"/>
          <p:nvPr/>
        </p:nvSpPr>
        <p:spPr>
          <a:xfrm>
            <a:off x="815900" y="308725"/>
            <a:ext cx="879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Correlación de Variables</a:t>
            </a:r>
            <a:endParaRPr sz="3200"/>
          </a:p>
        </p:txBody>
      </p:sp>
      <p:pic>
        <p:nvPicPr>
          <p:cNvPr id="177" name="Google Shape;177;gc59b244e6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75" y="1147777"/>
            <a:ext cx="9786637" cy="51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c59b244e60_0_10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c59b244e60_0_10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Pairplot - Ponderación de variable Stated Amount</a:t>
            </a:r>
            <a:endParaRPr sz="3200"/>
          </a:p>
        </p:txBody>
      </p:sp>
      <p:pic>
        <p:nvPicPr>
          <p:cNvPr id="184" name="Google Shape;184;gc59b244e60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900" y="1224550"/>
            <a:ext cx="6962200" cy="53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c59b244e60_1_28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c59b244e60_1_28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Stated Amount vs Tipo de plan</a:t>
            </a:r>
            <a:endParaRPr sz="3200"/>
          </a:p>
        </p:txBody>
      </p:sp>
      <p:pic>
        <p:nvPicPr>
          <p:cNvPr id="191" name="Google Shape;191;gc59b244e60_1_28"/>
          <p:cNvPicPr preferRelativeResize="0"/>
          <p:nvPr/>
        </p:nvPicPr>
        <p:blipFill rotWithShape="1">
          <a:blip r:embed="rId4">
            <a:alphaModFix/>
          </a:blip>
          <a:srcRect l="20862" t="39948" r="51611" b="25295"/>
          <a:stretch/>
        </p:blipFill>
        <p:spPr>
          <a:xfrm>
            <a:off x="2747363" y="1393025"/>
            <a:ext cx="6697277" cy="475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c59b244e60_1_36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c59b244e60_1_36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Stated Amount vs Riesgo BCRA</a:t>
            </a:r>
            <a:endParaRPr sz="3200"/>
          </a:p>
        </p:txBody>
      </p:sp>
      <p:pic>
        <p:nvPicPr>
          <p:cNvPr id="198" name="Google Shape;198;gc59b244e60_1_36"/>
          <p:cNvPicPr preferRelativeResize="0"/>
          <p:nvPr/>
        </p:nvPicPr>
        <p:blipFill rotWithShape="1">
          <a:blip r:embed="rId4">
            <a:alphaModFix/>
          </a:blip>
          <a:srcRect l="20874" t="43514" r="50341" b="23243"/>
          <a:stretch/>
        </p:blipFill>
        <p:spPr>
          <a:xfrm>
            <a:off x="2631926" y="1714500"/>
            <a:ext cx="6928147" cy="45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c59b244e60_1_44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c59b244e60_1_44"/>
          <p:cNvPicPr preferRelativeResize="0"/>
          <p:nvPr/>
        </p:nvPicPr>
        <p:blipFill rotWithShape="1">
          <a:blip r:embed="rId4">
            <a:alphaModFix/>
          </a:blip>
          <a:srcRect l="20534" t="50203" r="48192" b="15049"/>
          <a:stretch/>
        </p:blipFill>
        <p:spPr>
          <a:xfrm>
            <a:off x="2791275" y="1662225"/>
            <a:ext cx="6839400" cy="4274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c59b244e60_1_44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Stated Amount vs Sistema operativo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c59b244e60_1_52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c59b244e60_1_52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Stated Amount vs Antiguedad</a:t>
            </a:r>
            <a:endParaRPr sz="3200"/>
          </a:p>
        </p:txBody>
      </p:sp>
      <p:pic>
        <p:nvPicPr>
          <p:cNvPr id="212" name="Google Shape;212;gc59b244e60_1_52"/>
          <p:cNvPicPr preferRelativeResize="0"/>
          <p:nvPr/>
        </p:nvPicPr>
        <p:blipFill rotWithShape="1">
          <a:blip r:embed="rId4">
            <a:alphaModFix/>
          </a:blip>
          <a:srcRect l="20810" t="45435" r="48750" b="19999"/>
          <a:stretch/>
        </p:blipFill>
        <p:spPr>
          <a:xfrm>
            <a:off x="2845725" y="1754675"/>
            <a:ext cx="6500549" cy="41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c59b244e60_1_59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c59b244e60_1_59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sp>
        <p:nvSpPr>
          <p:cNvPr id="219" name="Google Shape;219;gc59b244e60_1_59"/>
          <p:cNvSpPr txBox="1"/>
          <p:nvPr/>
        </p:nvSpPr>
        <p:spPr>
          <a:xfrm>
            <a:off x="815900" y="1285875"/>
            <a:ext cx="10837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Validamos si separar el tipo de producto tiene algun incidencia en el rendimiento de los modelos y comparamos los resultados vs el modelo que contiene todos los productos.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Se hizo el anàlisis probando los siguientes modelos: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c59b244e60_1_59"/>
          <p:cNvSpPr txBox="1"/>
          <p:nvPr/>
        </p:nvSpPr>
        <p:spPr>
          <a:xfrm>
            <a:off x="1335625" y="2855050"/>
            <a:ext cx="4246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Regresion Logistica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Naive Bayes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KNeighbors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LinearSVC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SGDClassifier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CatBoost (adicional)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c59b244e60_1_70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c59b244e60_1_70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pic>
        <p:nvPicPr>
          <p:cNvPr id="227" name="Google Shape;227;gc59b244e60_1_70"/>
          <p:cNvPicPr preferRelativeResize="0"/>
          <p:nvPr/>
        </p:nvPicPr>
        <p:blipFill rotWithShape="1">
          <a:blip r:embed="rId4">
            <a:alphaModFix/>
          </a:blip>
          <a:srcRect l="20704" t="44925" r="60496" b="22358"/>
          <a:stretch/>
        </p:blipFill>
        <p:spPr>
          <a:xfrm>
            <a:off x="3161450" y="2184200"/>
            <a:ext cx="2830848" cy="280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c59b244e60_1_70"/>
          <p:cNvPicPr preferRelativeResize="0"/>
          <p:nvPr/>
        </p:nvPicPr>
        <p:blipFill rotWithShape="1">
          <a:blip r:embed="rId4">
            <a:alphaModFix/>
          </a:blip>
          <a:srcRect l="38919" t="47742" r="42629" b="21284"/>
          <a:stretch/>
        </p:blipFill>
        <p:spPr>
          <a:xfrm>
            <a:off x="143525" y="2180441"/>
            <a:ext cx="2934802" cy="277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c59b244e60_1_70"/>
          <p:cNvPicPr preferRelativeResize="0"/>
          <p:nvPr/>
        </p:nvPicPr>
        <p:blipFill rotWithShape="1">
          <a:blip r:embed="rId4">
            <a:alphaModFix/>
          </a:blip>
          <a:srcRect l="57529" t="47742" r="24019" b="21284"/>
          <a:stretch/>
        </p:blipFill>
        <p:spPr>
          <a:xfrm>
            <a:off x="6098124" y="2184200"/>
            <a:ext cx="2973974" cy="280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c59b244e60_1_70"/>
          <p:cNvPicPr preferRelativeResize="0"/>
          <p:nvPr/>
        </p:nvPicPr>
        <p:blipFill rotWithShape="1">
          <a:blip r:embed="rId4">
            <a:alphaModFix/>
          </a:blip>
          <a:srcRect l="75393" t="47742" r="6521" b="21284"/>
          <a:stretch/>
        </p:blipFill>
        <p:spPr>
          <a:xfrm>
            <a:off x="9148300" y="2184212"/>
            <a:ext cx="2973974" cy="2808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c59b244e60_1_70"/>
          <p:cNvSpPr txBox="1"/>
          <p:nvPr/>
        </p:nvSpPr>
        <p:spPr>
          <a:xfrm>
            <a:off x="815900" y="1213850"/>
            <a:ext cx="575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Comparativo de Metricas entre modelos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c59b244e60_1_100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c59b244e60_1_100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sp>
        <p:nvSpPr>
          <p:cNvPr id="238" name="Google Shape;238;gc59b244e60_1_100"/>
          <p:cNvSpPr txBox="1"/>
          <p:nvPr/>
        </p:nvSpPr>
        <p:spPr>
          <a:xfrm>
            <a:off x="815900" y="1098600"/>
            <a:ext cx="5733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Estimador màs efectivo en cada caso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c59b244e60_1_100"/>
          <p:cNvPicPr preferRelativeResize="0"/>
          <p:nvPr/>
        </p:nvPicPr>
        <p:blipFill rotWithShape="1">
          <a:blip r:embed="rId4">
            <a:alphaModFix/>
          </a:blip>
          <a:srcRect l="20432" t="30857" r="30896" b="11914"/>
          <a:stretch/>
        </p:blipFill>
        <p:spPr>
          <a:xfrm>
            <a:off x="155675" y="2003875"/>
            <a:ext cx="5933774" cy="392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c59b244e60_1_100"/>
          <p:cNvPicPr preferRelativeResize="0"/>
          <p:nvPr/>
        </p:nvPicPr>
        <p:blipFill rotWithShape="1">
          <a:blip r:embed="rId5">
            <a:alphaModFix/>
          </a:blip>
          <a:srcRect l="20520" t="25293" r="31689" b="17482"/>
          <a:stretch/>
        </p:blipFill>
        <p:spPr>
          <a:xfrm>
            <a:off x="6214175" y="2003874"/>
            <a:ext cx="5826624" cy="392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c59b244e60_1_100"/>
          <p:cNvPicPr preferRelativeResize="0"/>
          <p:nvPr/>
        </p:nvPicPr>
        <p:blipFill rotWithShape="1">
          <a:blip r:embed="rId6">
            <a:alphaModFix/>
          </a:blip>
          <a:srcRect l="69816" t="37791" r="21065" b="54579"/>
          <a:stretch/>
        </p:blipFill>
        <p:spPr>
          <a:xfrm>
            <a:off x="10193225" y="6106140"/>
            <a:ext cx="1438771" cy="6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c59b244e60_1_100"/>
          <p:cNvPicPr preferRelativeResize="0"/>
          <p:nvPr/>
        </p:nvPicPr>
        <p:blipFill rotWithShape="1">
          <a:blip r:embed="rId7">
            <a:alphaModFix/>
          </a:blip>
          <a:srcRect l="20326" t="34372" r="31993" b="7983"/>
          <a:stretch/>
        </p:blipFill>
        <p:spPr>
          <a:xfrm>
            <a:off x="155675" y="1975375"/>
            <a:ext cx="5933774" cy="39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c59b244e60_1_124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c59b244e60_1_124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sp>
        <p:nvSpPr>
          <p:cNvPr id="249" name="Google Shape;249;gc59b244e60_1_124"/>
          <p:cNvSpPr txBox="1"/>
          <p:nvPr/>
        </p:nvSpPr>
        <p:spPr>
          <a:xfrm>
            <a:off x="815900" y="1098600"/>
            <a:ext cx="5733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Estimador màs efectivo en cada caso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c59b244e60_1_124"/>
          <p:cNvPicPr preferRelativeResize="0"/>
          <p:nvPr/>
        </p:nvPicPr>
        <p:blipFill rotWithShape="1">
          <a:blip r:embed="rId4">
            <a:alphaModFix/>
          </a:blip>
          <a:srcRect l="69816" t="37791" r="21065" b="54579"/>
          <a:stretch/>
        </p:blipFill>
        <p:spPr>
          <a:xfrm>
            <a:off x="10193225" y="6106140"/>
            <a:ext cx="1438771" cy="6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c59b244e60_1_124"/>
          <p:cNvPicPr preferRelativeResize="0"/>
          <p:nvPr/>
        </p:nvPicPr>
        <p:blipFill rotWithShape="1">
          <a:blip r:embed="rId5">
            <a:alphaModFix/>
          </a:blip>
          <a:srcRect l="20326" t="34372" r="31993" b="7983"/>
          <a:stretch/>
        </p:blipFill>
        <p:spPr>
          <a:xfrm>
            <a:off x="79475" y="1975375"/>
            <a:ext cx="5933774" cy="39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c59b244e60_1_124"/>
          <p:cNvPicPr preferRelativeResize="0"/>
          <p:nvPr/>
        </p:nvPicPr>
        <p:blipFill rotWithShape="1">
          <a:blip r:embed="rId6">
            <a:alphaModFix/>
          </a:blip>
          <a:srcRect l="20874" t="33986" r="31554" b="8369"/>
          <a:stretch/>
        </p:blipFill>
        <p:spPr>
          <a:xfrm>
            <a:off x="6169800" y="1975375"/>
            <a:ext cx="5933774" cy="39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c59b244e60_1_138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c59b244e60_1_138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sp>
        <p:nvSpPr>
          <p:cNvPr id="259" name="Google Shape;259;gc59b244e60_1_138"/>
          <p:cNvSpPr txBox="1"/>
          <p:nvPr/>
        </p:nvSpPr>
        <p:spPr>
          <a:xfrm>
            <a:off x="815900" y="1098600"/>
            <a:ext cx="5733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Estimador màs efectivo en cada caso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gc59b244e60_1_138"/>
          <p:cNvPicPr preferRelativeResize="0"/>
          <p:nvPr/>
        </p:nvPicPr>
        <p:blipFill rotWithShape="1">
          <a:blip r:embed="rId4">
            <a:alphaModFix/>
          </a:blip>
          <a:srcRect l="69816" t="37791" r="21065" b="54579"/>
          <a:stretch/>
        </p:blipFill>
        <p:spPr>
          <a:xfrm>
            <a:off x="10193225" y="6106140"/>
            <a:ext cx="1438771" cy="6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c59b244e60_1_138"/>
          <p:cNvPicPr preferRelativeResize="0"/>
          <p:nvPr/>
        </p:nvPicPr>
        <p:blipFill rotWithShape="1">
          <a:blip r:embed="rId5">
            <a:alphaModFix/>
          </a:blip>
          <a:srcRect l="20434" t="34179" r="31663" b="8788"/>
          <a:stretch/>
        </p:blipFill>
        <p:spPr>
          <a:xfrm>
            <a:off x="2879825" y="1734575"/>
            <a:ext cx="6864216" cy="45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c59b244e60_1_82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c59b244e60_1_82"/>
          <p:cNvSpPr txBox="1"/>
          <p:nvPr/>
        </p:nvSpPr>
        <p:spPr>
          <a:xfrm>
            <a:off x="815900" y="308725"/>
            <a:ext cx="9864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Anàlisis por modelo y tipo de producto</a:t>
            </a:r>
            <a:endParaRPr sz="3200"/>
          </a:p>
        </p:txBody>
      </p:sp>
      <p:sp>
        <p:nvSpPr>
          <p:cNvPr id="268" name="Google Shape;268;gc59b244e60_1_82"/>
          <p:cNvSpPr txBox="1"/>
          <p:nvPr/>
        </p:nvSpPr>
        <p:spPr>
          <a:xfrm>
            <a:off x="815900" y="987625"/>
            <a:ext cx="5583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Comparativa de resultados de train y test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c59b244e60_1_82"/>
          <p:cNvPicPr preferRelativeResize="0"/>
          <p:nvPr/>
        </p:nvPicPr>
        <p:blipFill rotWithShape="1">
          <a:blip r:embed="rId4">
            <a:alphaModFix/>
          </a:blip>
          <a:srcRect l="20387" t="41566" r="52828" b="25546"/>
          <a:stretch/>
        </p:blipFill>
        <p:spPr>
          <a:xfrm>
            <a:off x="1484800" y="1666251"/>
            <a:ext cx="3553910" cy="24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c59b244e60_1_82"/>
          <p:cNvPicPr preferRelativeResize="0"/>
          <p:nvPr/>
        </p:nvPicPr>
        <p:blipFill rotWithShape="1">
          <a:blip r:embed="rId5">
            <a:alphaModFix/>
          </a:blip>
          <a:srcRect l="20534" t="36724" r="52612" b="29965"/>
          <a:stretch/>
        </p:blipFill>
        <p:spPr>
          <a:xfrm>
            <a:off x="6904825" y="1678739"/>
            <a:ext cx="3517771" cy="24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c59b244e60_1_82"/>
          <p:cNvPicPr preferRelativeResize="0"/>
          <p:nvPr/>
        </p:nvPicPr>
        <p:blipFill rotWithShape="1">
          <a:blip r:embed="rId6">
            <a:alphaModFix/>
          </a:blip>
          <a:srcRect l="20653" t="31832" r="52592" b="35803"/>
          <a:stretch/>
        </p:blipFill>
        <p:spPr>
          <a:xfrm>
            <a:off x="1484799" y="4276307"/>
            <a:ext cx="3553901" cy="2418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c59b244e60_1_82"/>
          <p:cNvPicPr preferRelativeResize="0"/>
          <p:nvPr/>
        </p:nvPicPr>
        <p:blipFill rotWithShape="1">
          <a:blip r:embed="rId7">
            <a:alphaModFix/>
          </a:blip>
          <a:srcRect l="20654" t="47653" r="52615" b="19525"/>
          <a:stretch/>
        </p:blipFill>
        <p:spPr>
          <a:xfrm>
            <a:off x="6904826" y="4270539"/>
            <a:ext cx="3517776" cy="242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c59b244e60_1_82"/>
          <p:cNvPicPr preferRelativeResize="0"/>
          <p:nvPr/>
        </p:nvPicPr>
        <p:blipFill rotWithShape="1">
          <a:blip r:embed="rId8">
            <a:alphaModFix/>
          </a:blip>
          <a:srcRect l="47358" t="50844" r="48686" b="45876"/>
          <a:stretch/>
        </p:blipFill>
        <p:spPr>
          <a:xfrm>
            <a:off x="10747850" y="2057700"/>
            <a:ext cx="885398" cy="4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c416ab41c1_0_76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c416ab41c1_0_76"/>
          <p:cNvSpPr txBox="1"/>
          <p:nvPr/>
        </p:nvSpPr>
        <p:spPr>
          <a:xfrm>
            <a:off x="400444" y="-338550"/>
            <a:ext cx="879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Resultados</a:t>
            </a:r>
            <a:endParaRPr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D97ADA-0712-E74B-8CF4-0AA8934EB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730" y="565272"/>
            <a:ext cx="9028669" cy="60069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63980-EDE8-9347-8FD1-908B5B67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995" y="-185179"/>
            <a:ext cx="9058189" cy="580596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Conclusiones: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521C2-F8BD-6746-B05C-BB4DC77C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8900" y="832809"/>
            <a:ext cx="10414200" cy="5347274"/>
          </a:xfrm>
        </p:spPr>
        <p:txBody>
          <a:bodyPr>
            <a:normAutofit lnSpcReduction="10000"/>
          </a:bodyPr>
          <a:lstStyle/>
          <a:p>
            <a:pPr algn="l"/>
            <a:r>
              <a:rPr lang="es-ES_tradnl" dirty="0"/>
              <a:t>El rendimiento de los modelos testeados no alcanza para conformar una solución completa.</a:t>
            </a:r>
          </a:p>
          <a:p>
            <a:pPr marL="1143000" lvl="1" indent="-457200" algn="l">
              <a:buFont typeface="Arial" panose="020B0604020202020204" pitchFamily="34" charset="0"/>
              <a:buChar char="•"/>
            </a:pPr>
            <a:r>
              <a:rPr lang="es-ES_tradnl" dirty="0"/>
              <a:t>De todas las variables de muestra, el importe asegurado (</a:t>
            </a:r>
            <a:r>
              <a:rPr lang="es-ES_tradnl" dirty="0" err="1"/>
              <a:t>stated_amout</a:t>
            </a:r>
            <a:r>
              <a:rPr lang="es-ES_tradnl" dirty="0"/>
              <a:t>) parece ser el único que tiene algo de influencia en la clasificación</a:t>
            </a:r>
          </a:p>
          <a:p>
            <a:pPr marL="1143000" lvl="1" indent="-457200" algn="l">
              <a:buFont typeface="Arial" panose="020B0604020202020204" pitchFamily="34" charset="0"/>
              <a:buChar char="•"/>
            </a:pPr>
            <a:r>
              <a:rPr lang="es-ES_tradnl" dirty="0" err="1"/>
              <a:t>stated_amount</a:t>
            </a:r>
            <a:r>
              <a:rPr lang="es-ES_tradnl" dirty="0"/>
              <a:t> se vincula fuertemente con cantidad de accidentes, antigüedad y cantidad de aseguradoras previas.</a:t>
            </a:r>
          </a:p>
          <a:p>
            <a:pPr marL="1143000" lvl="1" indent="-457200" algn="l">
              <a:buFont typeface="Arial" panose="020B0604020202020204" pitchFamily="34" charset="0"/>
              <a:buChar char="•"/>
            </a:pPr>
            <a:r>
              <a:rPr lang="es-ES_tradnl" dirty="0"/>
              <a:t>Al revisar </a:t>
            </a:r>
            <a:r>
              <a:rPr lang="es-ES_tradnl" dirty="0" err="1"/>
              <a:t>stated_amount</a:t>
            </a:r>
            <a:r>
              <a:rPr lang="es-ES_tradnl" dirty="0"/>
              <a:t> en combinación con tipo de producto, se puede observar que separa mejor para algunos productos (en particular el tipo 3 y el tipo 2)</a:t>
            </a:r>
          </a:p>
          <a:p>
            <a:pPr marL="1143000" lvl="1" indent="-457200" algn="l">
              <a:buFont typeface="Arial" panose="020B0604020202020204" pitchFamily="34" charset="0"/>
              <a:buChar char="•"/>
            </a:pPr>
            <a:r>
              <a:rPr lang="es-ES_tradnl" dirty="0"/>
              <a:t>Al separar los modelos por tipo de producto, el rendimiento de los modelos individualizados es superior (salvo para el tipo 5) que un modelo que contemple  a todos los productos.</a:t>
            </a:r>
          </a:p>
          <a:p>
            <a:pPr lvl="1" algn="l"/>
            <a:endParaRPr lang="es-ES_tradnl" dirty="0"/>
          </a:p>
          <a:p>
            <a:pPr algn="l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82726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gc416ab41c1_0_84" descr="Imag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444" y="6310552"/>
            <a:ext cx="814630" cy="26826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c416ab41c1_0_84"/>
          <p:cNvSpPr txBox="1"/>
          <p:nvPr/>
        </p:nvSpPr>
        <p:spPr>
          <a:xfrm>
            <a:off x="815900" y="308725"/>
            <a:ext cx="879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Bonus Track - Porque desestimamos PCA? </a:t>
            </a:r>
            <a:endParaRPr sz="3200"/>
          </a:p>
        </p:txBody>
      </p:sp>
      <p:sp>
        <p:nvSpPr>
          <p:cNvPr id="304" name="Google Shape;304;gc416ab41c1_0_84"/>
          <p:cNvSpPr txBox="1"/>
          <p:nvPr/>
        </p:nvSpPr>
        <p:spPr>
          <a:xfrm>
            <a:off x="400450" y="5490150"/>
            <a:ext cx="109242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b="1" dirty="0"/>
              <a:t>Descartamos usar PCA ya que no nos condujo a reducir la cantidad </a:t>
            </a:r>
            <a:r>
              <a:rPr lang="es-ES_tradnl" b="1"/>
              <a:t>de dimensiones, </a:t>
            </a:r>
            <a:r>
              <a:rPr lang="es-ES_tradnl" b="1" dirty="0"/>
              <a:t>debido a que necesitamos 14 de los 18 componentes para explicar el 90% de la varianza.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b="1" dirty="0"/>
              <a:t>Adicionalmente, al testear los modelos PCA y no PCA, PCA tuvo resultados ligeramente inferiores.</a:t>
            </a:r>
          </a:p>
        </p:txBody>
      </p:sp>
      <p:pic>
        <p:nvPicPr>
          <p:cNvPr id="305" name="Google Shape;305;gc416ab41c1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896" y="1180475"/>
            <a:ext cx="5791904" cy="3895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c416ab41c1_0_84"/>
          <p:cNvSpPr txBox="1"/>
          <p:nvPr/>
        </p:nvSpPr>
        <p:spPr>
          <a:xfrm>
            <a:off x="7045450" y="2131038"/>
            <a:ext cx="42792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b="1"/>
              <a:t>Varianza explicada acumulada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[0.2534814  0.36368668 0.44185964 0.50645885 0.56448056 0.6183475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 0.67111435 0.72312009 0.77128908 0.81674037 0.85895543 0.89926486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 0.93247455 0.95365983 0.96951821 0.98333784 0.99449565 1.        ]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1202</Words>
  <Application>Microsoft Macintosh PowerPoint</Application>
  <PresentationFormat>Panorámica</PresentationFormat>
  <Paragraphs>127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Helvetica Neue Light</vt:lpstr>
      <vt:lpstr>Calibri</vt:lpstr>
      <vt:lpstr>Arial</vt:lpstr>
      <vt:lpstr>Helvetica Neue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Martin Ruiz</dc:creator>
  <cp:lastModifiedBy>Martin Ruiz</cp:lastModifiedBy>
  <cp:revision>4</cp:revision>
  <dcterms:created xsi:type="dcterms:W3CDTF">2021-03-01T14:53:44Z</dcterms:created>
  <dcterms:modified xsi:type="dcterms:W3CDTF">2021-03-08T15:06:27Z</dcterms:modified>
</cp:coreProperties>
</file>